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6.png"/><Relationship Id="rId9" Type="http://schemas.openxmlformats.org/officeDocument/2006/relationships/image" Target="../media/image-5-7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1.png"/><Relationship Id="rId6" Type="http://schemas.openxmlformats.org/officeDocument/2006/relationships/image" Target="../media/image-7-2.svg"/><Relationship Id="rId7" Type="http://schemas.openxmlformats.org/officeDocument/2006/relationships/image" Target="../media/image-7-1.png"/><Relationship Id="rId8" Type="http://schemas.openxmlformats.org/officeDocument/2006/relationships/image" Target="../media/image-7-2.svg"/><Relationship Id="rId9" Type="http://schemas.openxmlformats.org/officeDocument/2006/relationships/image" Target="../media/image-7-1.png"/><Relationship Id="rId10" Type="http://schemas.openxmlformats.org/officeDocument/2006/relationships/image" Target="../media/image-7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113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Our Retail Store Network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90625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multi-channel retail operation spanning five strategic locations across Portugal, serving over 21,000 active customers with nearly 50,000 annual transactions.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598712"/>
            <a:ext cx="5360754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2217241"/>
            <a:ext cx="536075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 Locations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61475" y="2505869"/>
            <a:ext cx="536075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Lisbon, Porto, Faro, Coimbra &amp; Online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69367" y="1598712"/>
            <a:ext cx="5360853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21,220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169367" y="2217241"/>
            <a:ext cx="536085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Active Customers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69367" y="2505869"/>
            <a:ext cx="536085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all channels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61475" y="3016945"/>
            <a:ext cx="5360754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49,601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61475" y="3635474"/>
            <a:ext cx="536075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Transactions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3924102"/>
            <a:ext cx="536075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Completed orders processed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69367" y="3016945"/>
            <a:ext cx="5360853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124,335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69367" y="3635474"/>
            <a:ext cx="536085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Units Sold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69367" y="3924102"/>
            <a:ext cx="536085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Across all product categories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1475" y="4262438"/>
            <a:ext cx="3544402" cy="97938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00973" y="4401939"/>
            <a:ext cx="3265406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Lisbon Flagship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973" y="4690566"/>
            <a:ext cx="3265406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Primary market anchor — highest transaction volume and brand presence in the capital.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23547" y="4262438"/>
            <a:ext cx="3544501" cy="97938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4463045" y="4401939"/>
            <a:ext cx="326550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Porto Center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3045" y="4690566"/>
            <a:ext cx="326550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Northern Portugal hub serving the Porto metropolitan area and surrounding region.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85719" y="4262438"/>
            <a:ext cx="3544501" cy="97938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23" name="Text 21"/>
          <p:cNvSpPr/>
          <p:nvPr/>
        </p:nvSpPr>
        <p:spPr>
          <a:xfrm>
            <a:off x="8125217" y="4401939"/>
            <a:ext cx="3265505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Faro Outlet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125217" y="4690566"/>
            <a:ext cx="326550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Southern Portugal presence; highest-margin store in the network at 57.72%.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61475" y="5359499"/>
            <a:ext cx="5375537" cy="97938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800973" y="5499001"/>
            <a:ext cx="509654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Coimbra Boutique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00973" y="5787628"/>
            <a:ext cx="509654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 Portugal market with strong customer loyalty and consistent transaction flow.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54683" y="5359499"/>
            <a:ext cx="5375537" cy="979388"/>
          </a:xfrm>
          <a:prstGeom prst="roundRect">
            <a:avLst>
              <a:gd name="adj" fmla="val 2137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6294181" y="5499001"/>
            <a:ext cx="509654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Online Channel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94181" y="5787628"/>
            <a:ext cx="509654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Digital retail arm extending geographic reach beyond physical store footprints.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05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Summary &amp; KPI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72567"/>
            <a:ext cx="108687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network delivers strong baseline profitability at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57.26% gross profit margin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on $11.1M net revenue, with an average order value of $224.67 signaling healthy per-transaction economics.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1068" y="1716782"/>
            <a:ext cx="5465030" cy="1906588"/>
          </a:xfrm>
          <a:prstGeom prst="roundRect">
            <a:avLst>
              <a:gd name="adj" fmla="val 109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700566" y="1834455"/>
            <a:ext cx="518603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Performance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0566" y="2170113"/>
            <a:ext cx="5186034" cy="1347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$13,077,986.70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Gross Revenue</a:t>
            </a:r>
            <a:endParaRPr lang="en-US" sz="1050" dirty="0"/>
          </a:p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$11,143,914.90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Net Revenue</a:t>
            </a:r>
            <a:endParaRPr lang="en-US" sz="1050" dirty="0"/>
          </a:p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$1,934,071.80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Discount Impact</a:t>
            </a:r>
            <a:endParaRPr lang="en-US" sz="10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Promotional adjustments represent approximately 14.8% of gross revenue — within a healthy range for a multi-channel apparel retailer.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72353" y="1834455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Profitability Metrics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72353" y="2170113"/>
            <a:ext cx="5264217" cy="1347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$6,380,752.83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Total Gross Profit</a:t>
            </a:r>
            <a:endParaRPr lang="en-US" sz="1050" dirty="0"/>
          </a:p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57.26%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Blended Profit Margin</a:t>
            </a:r>
            <a:endParaRPr lang="en-US" sz="1050" dirty="0"/>
          </a:p>
          <a:p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$224.67</a:t>
            </a:r>
            <a:pPr algn="l" indent="0" marL="0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Average Order Value</a:t>
            </a:r>
            <a:endParaRPr lang="en-US" sz="10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margin consistency across all five channels indicates disciplined cost management and a well-positioned product mix relative to cost of goods.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1475" y="3825577"/>
            <a:ext cx="5360754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$11.1M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1475" y="4444107"/>
            <a:ext cx="536075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 Revenue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1475" y="4732734"/>
            <a:ext cx="536075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After promotional adjustments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69367" y="3825577"/>
            <a:ext cx="5360853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57.26%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69367" y="4444107"/>
            <a:ext cx="536085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Profit Margin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69367" y="4732734"/>
            <a:ext cx="536085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Blended across all channels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1475" y="5243810"/>
            <a:ext cx="5360754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$224.67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1475" y="5862340"/>
            <a:ext cx="536075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Avg. Order Value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1475" y="6150967"/>
            <a:ext cx="5360754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 completed transaction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69367" y="5243810"/>
            <a:ext cx="5360853" cy="460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21,220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169367" y="5862340"/>
            <a:ext cx="5360853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Active Customers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69367" y="6150967"/>
            <a:ext cx="5360853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Generating 49,601 transactions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Store Channel &amp; Regional Performance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 revenue is remarkably evenly distributed across all five channels — a range of just </a:t>
            </a:r>
            <a:pPr algn="l" indent="0" marL="0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~$84K between highest and lowest</a:t>
            </a:r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while margin variance reveals meaningful operational differences worth investigating.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41487"/>
            <a:ext cx="10868745" cy="6086574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7074495"/>
          <a:ext cx="9143771" cy="914400"/>
        </p:xfrm>
        <a:graphic>
          <a:graphicData uri="http://schemas.openxmlformats.org/drawingml/2006/table">
            <a:tbl>
              <a:tblPr/>
              <a:tblGrid>
                <a:gridCol w="2608499"/>
                <a:gridCol w="1956374"/>
                <a:gridCol w="1956374"/>
                <a:gridCol w="1738999"/>
                <a:gridCol w="1521624"/>
                <a:gridCol w="1086875"/>
              </a:tblGrid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Store / Channel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Net Revenue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Gross Profit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Transactions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Margin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Rank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Faro Outlet (S003)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$2,265,002.15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$1,307,478.49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9,880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150F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57.72%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Online Channel (S004)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$2,197,506.81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$1,262,092.69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9,833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57.43%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Porto Center (S002)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$2,188,650.81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$1,249,484.93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9,929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57.09%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#3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7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Lisbon Flagship (S001)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$2,273,277.72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$1,297,920.84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10,114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57.08%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#4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Coimbra Boutique (S005)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$2,219,477.41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$1,263,775.88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9,845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56.94%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#5</a:t>
                      </a:r>
                      <a:endParaRPr lang="en-US" sz="80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82696" marR="82696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61475" y="8133953"/>
            <a:ext cx="10868745" cy="218877"/>
          </a:xfrm>
          <a:prstGeom prst="roundRect">
            <a:avLst>
              <a:gd name="adj" fmla="val 5667"/>
            </a:avLst>
          </a:prstGeom>
          <a:solidFill>
            <a:srgbClr val="CCD7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22" y="8195866"/>
            <a:ext cx="103284" cy="8264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30053" y="8195866"/>
            <a:ext cx="11127104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Faro Outlet leads all channels on margin (57.72%) despite ranking 2nd on absolute revenue — indicating superior cost discipline and/or a favorable product mix versus Lisbon Flagship.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4048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Category Profitability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465560"/>
            <a:ext cx="10868745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core categories each contribute roughly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$2.18M–$2.23M in revenue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tight margin clustering between 56.92% and 57.73%. An uncategorized segment flags a data integrity issue requiring immediate remediation.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42232"/>
            <a:ext cx="5264217" cy="3789263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353" y="2142232"/>
          <a:ext cx="9143771" cy="914400"/>
        </p:xfrm>
        <a:graphic>
          <a:graphicData uri="http://schemas.openxmlformats.org/drawingml/2006/table">
            <a:tbl>
              <a:tblPr/>
              <a:tblGrid>
                <a:gridCol w="1473981"/>
                <a:gridCol w="1263412"/>
                <a:gridCol w="1052843"/>
                <a:gridCol w="736990"/>
                <a:gridCol w="736990"/>
              </a:tblGrid>
              <a:tr h="363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Category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Revenue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Gross Profit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Units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Margin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Accessories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$2,225,923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$1,276,928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24,950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57.37%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Shoes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$2,225,438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$1,266,802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24,661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56.92%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2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Dresses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$2,207,110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$1,274,267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24,453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50FE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57.73%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Tops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$2,204,974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$1,262,157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24,506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57.24%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2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Bottoms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$2,176,173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$1,245,750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24,577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57.25%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3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Uncategorized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$104,297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$54,848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1,188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52.59%</a:t>
                      </a:r>
                      <a:endParaRPr lang="en-US" sz="10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39549" marR="13954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72353" y="5050433"/>
            <a:ext cx="5264217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Accessories and Shoes lead on absolute unit volume (24,950 and 24,661 respectively), making them the primary levers for revenue scale. Dresses command the highest margin at 57.73%, positioning the category as the most efficient profit generator per dollar of revenue.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276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Demographics &amp; Spending Patterns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33959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pPr algn="l" indent="0" marL="0">
              <a:lnSpc>
                <a:spcPct val="117000"/>
              </a:lnSpc>
              <a:buNone/>
            </a:pPr>
            <a:r>
              <a:rPr lang="en-US" sz="9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Adults 25–45 segment drives 38.04% of net sales</a:t>
            </a:r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8,315 customers — the single most valuable cohort in the network. Geographic concentration in Lisbon, Faro, and Braga signals where localized marketing investment will yield highest returns.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7876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 by Age Segment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77120"/>
            <a:ext cx="5283068" cy="3802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3502" y="157876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Segment Detail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1877120"/>
            <a:ext cx="2595001" cy="13585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41021" y="2013843"/>
            <a:ext cx="227076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Adults (25–45) — Primary Engine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41021" y="2300585"/>
            <a:ext cx="2270763" cy="7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$4,239,138.71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8,315 customers | 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38.04% of net sales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Highest spending per customer; core loyalty and campaign target.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41469" y="1877120"/>
            <a:ext cx="2595101" cy="135850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28988" y="2013843"/>
            <a:ext cx="2270862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Middle-aged (46–60) — Secondary Core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9128988" y="2494359"/>
            <a:ext cx="2270862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$2,936,750.29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5,859 customers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Established buyers with strong repeat-purchase behavior.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3502" y="3328591"/>
            <a:ext cx="2595001" cy="13383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41021" y="3465314"/>
            <a:ext cx="2270763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Seniors (60+)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41021" y="3752056"/>
            <a:ext cx="2270763" cy="60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$1,793,240.56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Balanced distribution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segment; sensitivity to product accessibility and service quality.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1469" y="3328591"/>
            <a:ext cx="2595101" cy="13383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28988" y="3465314"/>
            <a:ext cx="227086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Youth (16–24)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9128988" y="3752056"/>
            <a:ext cx="2270862" cy="77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$1,765,183.26</a:t>
            </a:r>
            <a:pPr algn="l" indent="0" marL="0">
              <a:lnSpc>
                <a:spcPct val="117000"/>
              </a:lnSpc>
              <a:spcAft>
                <a:spcPts val="650"/>
              </a:spcAft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| Balanced distribution</a:t>
            </a:r>
            <a:endParaRPr lang="en-US" sz="9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Growth opportunity via digital-first engagement and trend-driven assortment.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6253502" y="477152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Top Cities by Revenue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3502" y="5069880"/>
          <a:ext cx="9143771" cy="914400"/>
        </p:xfrm>
        <a:graphic>
          <a:graphicData uri="http://schemas.openxmlformats.org/drawingml/2006/table">
            <a:tbl>
              <a:tblPr/>
              <a:tblGrid>
                <a:gridCol w="2113227"/>
                <a:gridCol w="3169841"/>
              </a:tblGrid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City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Revenue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Lisbon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$2,227,743.52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1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Faro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$2,161,175.59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02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Braga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$2,156,463.27</a:t>
                      </a:r>
                      <a:endParaRPr lang="en-US" sz="9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16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Critical Data Quality Issue: Uncategorized Products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30610"/>
            <a:ext cx="10868745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data integrity gap exists across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463 transactions and 1,188 units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that remain uncategorized — generating $104,297.47 in net revenue that cannot be attributed to any product category. This is not a theoretical concern: it directly undermines inventory allocation, category-level reporting, and strategic planning reliability.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7298" y="1807170"/>
            <a:ext cx="5466221" cy="4525665"/>
          </a:xfrm>
          <a:prstGeom prst="roundRect">
            <a:avLst>
              <a:gd name="adj" fmla="val 480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701955" y="1933773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Problem at a Glance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1955" y="2286397"/>
            <a:ext cx="5176906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463 Transactions</a:t>
            </a:r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 no category assignment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1,188 Units</a:t>
            </a:r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untracked at category level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$104,297.47</a:t>
            </a:r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revenue with no category attribution</a:t>
            </a:r>
            <a:endParaRPr lang="en-US" sz="1100" dirty="0"/>
          </a:p>
          <a:p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$54,847.61</a:t>
            </a:r>
            <a:pPr algn="l" indent="0" marL="0">
              <a:lnSpc>
                <a:spcPct val="125000"/>
              </a:lnSpc>
              <a:spcAft>
                <a:spcPts val="8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profit recorded at the lowest margin in the network (52.59%)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For context, categorized products range from 56.92% to 57.73% — uncategorized items trail by 4–5 percentage points, suggesting possible pricing anomalies or cost misallocations that reclassification would resolve.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8703" y="1933773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Dimensions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03" y="2302173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32925" y="232925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30832" y="2351881"/>
            <a:ext cx="209763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Reporting Accuracy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30832" y="2704505"/>
            <a:ext cx="2097630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Category-level P&amp;L statements are understated. Decisions on assortment, pricing, and promotions are made on incomplete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86712" y="2302173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040934" y="2329259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438840" y="2351881"/>
            <a:ext cx="209773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Allocation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438840" y="2704505"/>
            <a:ext cx="2097730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category attribution, reorder logic and stock distribution across stores cannot be accurately modeled.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8703" y="4043164"/>
            <a:ext cx="325529" cy="32553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332925" y="4070251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730832" y="4092873"/>
            <a:ext cx="480573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Blind Spot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30832" y="4445496"/>
            <a:ext cx="480573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uncategorized items belong to an already-tracked category, that category's true performance is being systematically undercounted.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8703" y="5022056"/>
            <a:ext cx="5257867" cy="1168400"/>
          </a:xfrm>
          <a:prstGeom prst="roundRect">
            <a:avLst>
              <a:gd name="adj" fmla="val 1858"/>
            </a:avLst>
          </a:prstGeom>
          <a:solidFill>
            <a:srgbClr val="FFB3B4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360" y="5210572"/>
            <a:ext cx="180871" cy="14466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748889" y="5172075"/>
            <a:ext cx="4643024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Immediate Action Required: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Audit and reclassify all 1,188 uncategorized units into appropriate product categories. Establish upstream data validation rules to prevent recurrence at point-of-sale or ERP entry.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8093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Strategic Recommendations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61475" y="1063724"/>
            <a:ext cx="11478330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priority actions derived directly from the performance data — spanning operational efficiency, product mix, customer targeting, data governance, and geographic investment.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61281"/>
            <a:ext cx="10868745" cy="9270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2048" y="1703685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98245" y="1509514"/>
            <a:ext cx="1008374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Channel Efficiency: Replicate the Faro Model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298245" y="1771948"/>
            <a:ext cx="10083746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Faro Outlet's </a:t>
            </a:r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57.72% margin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the highest in the network — should be studied as an operational benchmark. Conduct a root-cause analysis of Faro's cost structure, product mix, and discount discipline, then apply transferable practices to Coimbra (56.94%) and Lisbon (57.08%) to close the margin gap.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89187"/>
            <a:ext cx="10868745" cy="9270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2048" y="2731591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98245" y="2537420"/>
            <a:ext cx="1008374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Mix: Volume via Accessories &amp; Shoes, Margin via Dresses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298245" y="2799854"/>
            <a:ext cx="10083746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Accessories (24,950 units) and Shoes (24,661 units) are the volume leaders — prioritize inventory depth and promotional investment in these categories to sustain transaction flow. Dresses, with the highest margin at </a:t>
            </a:r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57.73%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warrant targeted upsell and cross-sell strategies to maximize profit per customer visit.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417094"/>
            <a:ext cx="10868745" cy="9270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2048" y="3759498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98245" y="3565327"/>
            <a:ext cx="1008374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Targeting: Double Down on Adults 25–45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298245" y="3827760"/>
            <a:ext cx="10083746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segment generates </a:t>
            </a:r>
            <a:pPr algn="l" indent="0" marL="0">
              <a:lnSpc>
                <a:spcPct val="119000"/>
              </a:lnSpc>
              <a:buNone/>
            </a:pPr>
            <a:r>
              <a:rPr lang="en-US" sz="100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$4.24M (38% of net revenue)</a:t>
            </a:r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8,315 customers. Develop a dedicated loyalty program, personalized communications, and exclusive product access to deepen retention and increase share-of-wallet within this highest-value cohort.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445000"/>
            <a:ext cx="10868745" cy="9270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2048" y="4787404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298245" y="4593233"/>
            <a:ext cx="1008374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Hygiene: Resolve 463 Uncategorized Transactions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298245" y="4855666"/>
            <a:ext cx="10083746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$104.29K in unclassified revenue and 1,188 units represent a reporting liability. Immediately audit and reclassify, then implement upstream validation at POS and ERP level to enforce mandatory category tagging — ensuring future category performance data is complete and audit-ready.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472906"/>
            <a:ext cx="10868745" cy="92700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2048" y="5815310"/>
            <a:ext cx="193769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1298245" y="5621139"/>
            <a:ext cx="10083746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Geographic Focus: Invest in Lisbon, Faro &amp; Braga Markets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298245" y="5883573"/>
            <a:ext cx="10083746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three cities collectively represent the network's highest revenue concentration. Prioritize localized marketing campaigns, store events, and community partnerships in these markets. Braga's strong performance without a dedicated physical store signals a potential expansion opportunity worth evaluating.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2026-09-04T21:59:37Z</dcterms:created>
  <dcterms:modified xsi:type="dcterms:W3CDTF">2026-09-04T21:59:37Z</dcterms:modified>
</cp:coreProperties>
</file>