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Crimson Pro Black"/>
      <p:regular r:id="rId201314"/>
    </p:embeddedFont>
    <p:embeddedFont>
      <p:font typeface="Crimson Pro"/>
      <p:regular r:id="rId201315"/>
    </p:embeddedFont>
    <p:embeddedFont>
      <p:font typeface="Crimson Pro SemiBold"/>
      <p:regular r:id="rId201316"/>
    </p:embeddedFont>
    <p:embeddedFont>
      <p:font typeface="Crimson Pro Bold"/>
      <p:regular r:id="rId201317"/>
    </p:embeddedFont>
    <p:embeddedFont>
      <p:font typeface="Heebo"/>
      <p:regular r:id="rId201318"/>
    </p:embeddedFont>
    <p:embeddedFont>
      <p:font typeface="Heebo SemiBold"/>
      <p:regular r:id="rId201319"/>
    </p:embeddedFont>
    <p:embeddedFont>
      <p:font typeface="Heebo Bold"/>
      <p:regular r:id="rId201320"/>
    </p:embeddedFont>
    <p:embeddedFont>
      <p:font typeface="Heebo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jpeg"/><Relationship Id="rId2" Type="http://schemas.openxmlformats.org/officeDocument/2006/relationships/image" Target="../media/image-1002-1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2.png"/><Relationship Id="rId7" Type="http://schemas.openxmlformats.org/officeDocument/2006/relationships/image" Target="../media/image-10-3.svg"/><Relationship Id="rId8" Type="http://schemas.openxmlformats.org/officeDocument/2006/relationships/image" Target="../media/image-10-2.png"/><Relationship Id="rId9" Type="http://schemas.openxmlformats.org/officeDocument/2006/relationships/image" Target="../media/image-10-3.sv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20523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Sales Performance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871490"/>
            <a:ext cx="62968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Retail operations and financial performance across channels, markets, and store execution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233360" y="3745508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strategic overview of revenue, profitability, and operational performance designed to highlight the key drivers behind retail growth and set the stage for deeper analysis.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143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Executive Summary &amp; KPI Overview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50107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network delivers strong baseline profitability with key performance indicators reflecting healthy operational metrics across all channels.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562027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$12.36M</a:t>
            </a:r>
            <a:endParaRPr lang="en-US" sz="4900" dirty="0"/>
          </a:p>
        </p:txBody>
      </p:sp>
      <p:sp>
        <p:nvSpPr>
          <p:cNvPr id="5" name="Text 3"/>
          <p:cNvSpPr/>
          <p:nvPr/>
        </p:nvSpPr>
        <p:spPr>
          <a:xfrm>
            <a:off x="661475" y="3421955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Total Revenue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830638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Across all channels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213915" y="2562027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125K</a:t>
            </a:r>
            <a:endParaRPr lang="en-US" sz="4900" dirty="0"/>
          </a:p>
        </p:txBody>
      </p:sp>
      <p:sp>
        <p:nvSpPr>
          <p:cNvPr id="8" name="Text 6"/>
          <p:cNvSpPr/>
          <p:nvPr/>
        </p:nvSpPr>
        <p:spPr>
          <a:xfrm>
            <a:off x="6213915" y="3421955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Units Sold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213915" y="3830638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Total quantity moved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61475" y="4605536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$7.07M</a:t>
            </a:r>
            <a:endParaRPr lang="en-US" sz="4900" dirty="0"/>
          </a:p>
        </p:txBody>
      </p:sp>
      <p:sp>
        <p:nvSpPr>
          <p:cNvPr id="11" name="Text 9"/>
          <p:cNvSpPr/>
          <p:nvPr/>
        </p:nvSpPr>
        <p:spPr>
          <a:xfrm>
            <a:off x="661475" y="5465465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Total Profit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61475" y="5874147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57.26% blended margin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213915" y="4605536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9.94%</a:t>
            </a:r>
            <a:endParaRPr lang="en-US" sz="4900" dirty="0"/>
          </a:p>
        </p:txBody>
      </p:sp>
      <p:sp>
        <p:nvSpPr>
          <p:cNvPr id="14" name="Text 12"/>
          <p:cNvSpPr/>
          <p:nvPr/>
        </p:nvSpPr>
        <p:spPr>
          <a:xfrm>
            <a:off x="6213915" y="5465465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Return Rate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213915" y="5874147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Within acceptable range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68041"/>
            <a:ext cx="6920831" cy="39218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99411" y="714077"/>
            <a:ext cx="3537060" cy="1052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Revenue Performance</a:t>
            </a:r>
            <a:endParaRPr lang="en-US" sz="3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9411" y="1934865"/>
            <a:ext cx="3537060" cy="129678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62929" y="2122190"/>
            <a:ext cx="30862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$12.36M Total Revenue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8262929" y="2535138"/>
            <a:ext cx="308622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Distributed across all five retail and digital channels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99411" y="3381573"/>
            <a:ext cx="3537060" cy="129678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62929" y="3568898"/>
            <a:ext cx="30862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$7.07M Profit Generated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8262929" y="3981847"/>
            <a:ext cx="308622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Reflecting disciplined cost management network-wide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99411" y="4828282"/>
            <a:ext cx="3537060" cy="129678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62929" y="5015607"/>
            <a:ext cx="30862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57.26% Blended Margin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8262929" y="5428555"/>
            <a:ext cx="308622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 consistency across all five channels indicates a well-positioned product mix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9768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Volume &amp; Return Metrics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066355"/>
            <a:ext cx="3496877" cy="1693962"/>
          </a:xfrm>
          <a:prstGeom prst="roundRect">
            <a:avLst>
              <a:gd name="adj" fmla="val 1674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850482" y="3255367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125,000 Units Sold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0482" y="3664049"/>
            <a:ext cx="31188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Strong unit volume reflects healthy customer demand across all product categories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3066355"/>
            <a:ext cx="3496877" cy="1693962"/>
          </a:xfrm>
          <a:prstGeom prst="roundRect">
            <a:avLst>
              <a:gd name="adj" fmla="val 1674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4536366" y="3255367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9.94% Return Rate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36366" y="3664049"/>
            <a:ext cx="31188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Within acceptable range for retail operations — no corrective action required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3066355"/>
            <a:ext cx="3496877" cy="1693962"/>
          </a:xfrm>
          <a:prstGeom prst="roundRect">
            <a:avLst>
              <a:gd name="adj" fmla="val 1674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8222251" y="3255367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$98.88 Avg. Order Value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2251" y="3664049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 transaction average indicating solid basket size across all channels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9625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Store Channel Performance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6492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Net revenue is distributed across five strategic channels with consistent performance metrics.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479973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2775843"/>
            <a:ext cx="3496877" cy="254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2921099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Lisbon Flagship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61475" y="3329781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Primary market anchor with highest transaction volume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347359" y="2479973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47359" y="2775843"/>
            <a:ext cx="3496877" cy="254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0" name="Text 8"/>
          <p:cNvSpPr/>
          <p:nvPr/>
        </p:nvSpPr>
        <p:spPr>
          <a:xfrm>
            <a:off x="4347359" y="2921099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Porto Center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4347359" y="3329781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Northern Portugal hub serving the metropolitan area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033244" y="2479973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033244" y="2775843"/>
            <a:ext cx="3496877" cy="254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4" name="Text 12"/>
          <p:cNvSpPr/>
          <p:nvPr/>
        </p:nvSpPr>
        <p:spPr>
          <a:xfrm>
            <a:off x="8033244" y="2921099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Faro Outlet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033244" y="3329781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Southern presence with highest-margin operations at 57.72%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61475" y="4265315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1475" y="4561185"/>
            <a:ext cx="5339820" cy="254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4706441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Coimbra Boutique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661475" y="5115123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Central market with strong customer loyalty and repeat purchases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190301" y="4265315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05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190301" y="4561185"/>
            <a:ext cx="5339820" cy="254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2" name="Text 20"/>
          <p:cNvSpPr/>
          <p:nvPr/>
        </p:nvSpPr>
        <p:spPr>
          <a:xfrm>
            <a:off x="6190301" y="4706441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Online Channel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6190301" y="5115123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Digital retail extending geographic reach beyond physical footprint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Product Category Profitability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Category Highlights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Accessories: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24,950 units — volume leader across all SKUs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Shoes: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24,661 units — strong volume performer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Dresses: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Highest margin at 57.73%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Tops &amp; Bottoms: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Consistent margin at 57.24%–57.25%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Five core categories each contribute roughly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$2.18M–$2.23M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 revenue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5851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Customer Demographics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427188"/>
            <a:ext cx="1117572" cy="111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781028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Adults 25–45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189710"/>
            <a:ext cx="25399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Primary segment —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38% of net sales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from 8,315 customers. Core revenue driver.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45" y="2427188"/>
            <a:ext cx="1117572" cy="1117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3781028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Middle-Aged 46–60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437645" y="4189710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Secondary core with strong repeat-purchase behavior and high lifetime value.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15" y="2427188"/>
            <a:ext cx="1117572" cy="1117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3781028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Seniors 60+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213915" y="4189710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Consistent segment with balanced distribution across all store channels.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184" y="2427188"/>
            <a:ext cx="1117572" cy="1117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3781028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Youth 16–24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990184" y="4189710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Growth opportunity via digital-first engagement and online channel activation.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2475"/>
            <a:ext cx="3560475" cy="959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Top Geographic Markets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1475" y="1852613"/>
            <a:ext cx="3560475" cy="3350716"/>
          </a:xfrm>
          <a:prstGeom prst="roundRect">
            <a:avLst>
              <a:gd name="adj" fmla="val 688"/>
            </a:avLst>
          </a:prstGeom>
          <a:solidFill>
            <a:srgbClr val="F2EEEE"/>
          </a:solidFill>
          <a:ln/>
        </p:spPr>
      </p:sp>
      <p:sp>
        <p:nvSpPr>
          <p:cNvPr id="4" name="Shape 2"/>
          <p:cNvSpPr/>
          <p:nvPr/>
        </p:nvSpPr>
        <p:spPr>
          <a:xfrm>
            <a:off x="661475" y="1852613"/>
            <a:ext cx="3560475" cy="1116905"/>
          </a:xfrm>
          <a:custGeom>
            <a:avLst/>
            <a:gdLst/>
            <a:ahLst/>
            <a:cxnLst/>
            <a:rect l="l" t="t" r="r" b="b"/>
            <a:pathLst>
              <a:path w="3560475" h="1116905">
                <a:moveTo>
                  <a:pt x="19197" y="0"/>
                </a:moveTo>
                <a:lnTo>
                  <a:pt x="3541278" y="0"/>
                </a:lnTo>
                <a:arcTo hR="19198" wR="19197" stAng="16200000" swAng="5400000"/>
                <a:lnTo>
                  <a:pt x="3560475" y="1116905"/>
                </a:lnTo>
                <a:lnTo>
                  <a:pt x="0" y="1116905"/>
                </a:lnTo>
                <a:lnTo>
                  <a:pt x="0" y="19198"/>
                </a:lnTo>
                <a:arcTo hR="19198" wR="19197" stAng="10800000" swAng="5400000"/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814962" y="2006104"/>
            <a:ext cx="325350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Lisbon — $2.23M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4962" y="2370733"/>
            <a:ext cx="3253500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Highest revenue concentration; flagship market anchor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61475" y="2969518"/>
            <a:ext cx="3560475" cy="1116905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2969518"/>
            <a:ext cx="3560475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9" name="Text 7"/>
          <p:cNvSpPr/>
          <p:nvPr/>
        </p:nvSpPr>
        <p:spPr>
          <a:xfrm>
            <a:off x="814962" y="3123009"/>
            <a:ext cx="325350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Faro — $2.16M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4962" y="3487638"/>
            <a:ext cx="3253500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Strong outlet performance; benchmark margin model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1475" y="4086423"/>
            <a:ext cx="3560475" cy="1116905"/>
          </a:xfrm>
          <a:custGeom>
            <a:avLst/>
            <a:gdLst/>
            <a:ahLst/>
            <a:cxnLst/>
            <a:rect l="l" t="t" r="r" b="b"/>
            <a:pathLst>
              <a:path w="3560475" h="1116905">
                <a:moveTo>
                  <a:pt x="0" y="0"/>
                </a:moveTo>
                <a:lnTo>
                  <a:pt x="3560475" y="0"/>
                </a:lnTo>
                <a:lnTo>
                  <a:pt x="3560475" y="1097708"/>
                </a:lnTo>
                <a:arcTo hR="19198" wR="19197" stAng="0" swAng="5400000"/>
                <a:lnTo>
                  <a:pt x="19197" y="1116905"/>
                </a:lnTo>
                <a:arcTo hR="19198" wR="19197" stAng="5400000" swAng="5400000"/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2" name="Shape 10"/>
          <p:cNvSpPr/>
          <p:nvPr/>
        </p:nvSpPr>
        <p:spPr>
          <a:xfrm>
            <a:off x="661475" y="4086423"/>
            <a:ext cx="3560475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3" name="Text 11"/>
          <p:cNvSpPr/>
          <p:nvPr/>
        </p:nvSpPr>
        <p:spPr>
          <a:xfrm>
            <a:off x="814962" y="4239915"/>
            <a:ext cx="325350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Braga — $2.16M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4962" y="4604544"/>
            <a:ext cx="3253500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Expansion opportunity — significant revenue without a dedicated store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1475" y="5343624"/>
            <a:ext cx="3560475" cy="746323"/>
          </a:xfrm>
          <a:prstGeom prst="roundRect">
            <a:avLst>
              <a:gd name="adj" fmla="val 3087"/>
            </a:avLst>
          </a:prstGeom>
          <a:solidFill>
            <a:srgbClr val="B6D6FC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962" y="5531048"/>
            <a:ext cx="191884" cy="153491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60334" y="5494139"/>
            <a:ext cx="2908128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Braga generates $2.16M with no physical presence — a compelling investment case.</a:t>
            </a:r>
            <a:endParaRPr lang="en-US" sz="12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940" y="1464469"/>
            <a:ext cx="6933530" cy="39290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56022"/>
            <a:ext cx="6296860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Strategic Recommendations</a:t>
            </a:r>
            <a:endParaRPr lang="en-US" sz="3450" dirty="0"/>
          </a:p>
        </p:txBody>
      </p:sp>
      <p:sp>
        <p:nvSpPr>
          <p:cNvPr id="4" name="Shape 1"/>
          <p:cNvSpPr/>
          <p:nvPr/>
        </p:nvSpPr>
        <p:spPr>
          <a:xfrm>
            <a:off x="661475" y="1358900"/>
            <a:ext cx="398651" cy="398661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727900" y="1392138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1226214" y="1419721"/>
            <a:ext cx="573212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Channel Efficiency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226214" y="1796256"/>
            <a:ext cx="5732121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Replicate Faro's 57.72% margin model across other locations — standardize pricing and cost controls.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61475" y="2677716"/>
            <a:ext cx="398651" cy="398661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727900" y="2710954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1226214" y="2738537"/>
            <a:ext cx="573212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Product Mix Optimization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226214" y="3115072"/>
            <a:ext cx="5732121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Prioritize Accessories &amp; Shoes for volume; leverage Dresses for margin-led growth initiatives.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61475" y="3996531"/>
            <a:ext cx="398651" cy="398661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727900" y="4029770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1226214" y="4057352"/>
            <a:ext cx="573212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Customer Loyalty Program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226214" y="4433887"/>
            <a:ext cx="5732121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Develop a targeted loyalty scheme for the Adults 25–45 segment to deepen the primary revenue base.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61475" y="5315347"/>
            <a:ext cx="398651" cy="398661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7" name="Text 14"/>
          <p:cNvSpPr/>
          <p:nvPr/>
        </p:nvSpPr>
        <p:spPr>
          <a:xfrm>
            <a:off x="727900" y="5348585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2050" dirty="0"/>
          </a:p>
        </p:txBody>
      </p:sp>
      <p:sp>
        <p:nvSpPr>
          <p:cNvPr id="18" name="Text 15"/>
          <p:cNvSpPr/>
          <p:nvPr/>
        </p:nvSpPr>
        <p:spPr>
          <a:xfrm>
            <a:off x="1226214" y="5376168"/>
            <a:ext cx="573212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Geographic Investment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226214" y="5752703"/>
            <a:ext cx="5732121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Focus capex on Lisbon, Faro &amp; Braga — the three highest-ROI markets in the network.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CRITICAL: Negative-Margin Transaction Crisis — $496K Revenue Leak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15888"/>
            <a:ext cx="10868745" cy="27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8,378 negative-profit transactions</a:t>
            </a:r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account for </a:t>
            </a:r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16.89%</a:t>
            </a:r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all completed sales, creating a total loss of </a:t>
            </a:r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-$496,494.25</a:t>
            </a:r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root cause is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cost price exceeding list price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for many items, further compounded by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promotional discounts of 0–30%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that push sales below breakeven.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01948"/>
            <a:ext cx="5319083" cy="382875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17487" y="1301948"/>
            <a:ext cx="2635879" cy="8722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464536" y="1367730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324640" y="1645345"/>
            <a:ext cx="242157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Automated Pricing Guardrails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324640" y="1840210"/>
            <a:ext cx="2421571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Implement POS and e-commerce checks that block transactions below cost.</a:t>
            </a:r>
            <a:endParaRPr lang="en-US" sz="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00592" y="1301948"/>
            <a:ext cx="2635978" cy="8722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147741" y="1367730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9007746" y="1645345"/>
            <a:ext cx="242167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Audit Cost-Price Mapping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9007746" y="1840210"/>
            <a:ext cx="2421671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Review every cost_price vs. list_price mapping to isolate mispriced SKUs.</a:t>
            </a:r>
            <a:endParaRPr lang="en-US" sz="7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17487" y="2221409"/>
            <a:ext cx="2635879" cy="8722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64536" y="2287191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6324640" y="2564805"/>
            <a:ext cx="242157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Cap Promotional Discounts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6324640" y="2759670"/>
            <a:ext cx="2421571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Limit discounts to prevent below-cost sales and margin erosion.</a:t>
            </a:r>
            <a:endParaRPr lang="en-US" sz="7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00592" y="2221409"/>
            <a:ext cx="2635978" cy="8722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147741" y="2287191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9007746" y="2564805"/>
            <a:ext cx="242167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Renegotiate Supplier Contracts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9007746" y="2759670"/>
            <a:ext cx="2421671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Prioritize high-cost SKUs where supplier terms are driving structural losses.</a:t>
            </a:r>
            <a:endParaRPr lang="en-US" sz="700" dirty="0"/>
          </a:p>
        </p:txBody>
      </p:sp>
      <p:sp>
        <p:nvSpPr>
          <p:cNvPr id="21" name="Shape 14"/>
          <p:cNvSpPr/>
          <p:nvPr/>
        </p:nvSpPr>
        <p:spPr>
          <a:xfrm>
            <a:off x="661475" y="5236865"/>
            <a:ext cx="10868745" cy="250329"/>
          </a:xfrm>
          <a:prstGeom prst="roundRect">
            <a:avLst>
              <a:gd name="adj" fmla="val 5663"/>
            </a:avLst>
          </a:prstGeom>
          <a:solidFill>
            <a:srgbClr val="FFB3B4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5929" y="5307707"/>
            <a:ext cx="118067" cy="9445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68450" y="5307707"/>
            <a:ext cx="1107690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Structural cost-price misalignments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not isolated data errors, are creating recurring losses across categories and channels.</a:t>
            </a:r>
            <a:endParaRPr lang="en-US" sz="700" dirty="0"/>
          </a:p>
        </p:txBody>
      </p:sp>
      <p:sp>
        <p:nvSpPr>
          <p:cNvPr id="24" name="Text 16"/>
          <p:cNvSpPr/>
          <p:nvPr/>
        </p:nvSpPr>
        <p:spPr>
          <a:xfrm>
            <a:off x="661475" y="5558036"/>
            <a:ext cx="10868745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Channel Loss Breakdown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661475" y="5806083"/>
            <a:ext cx="10868745" cy="632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Porto Center — -$102.5K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Lisbon Flagship — -$101.4K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Coimbra Boutique — -$101.1K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Faro Outlet — -$97.5K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Online Channel — -$94.1K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777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Strategic Recovery Roadmap: 3-Step Mitigation Plan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80207"/>
            <a:ext cx="723584" cy="15432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95784" y="1324868"/>
            <a:ext cx="1003443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SHORT-TERM (Weeks 1–4): Emergency Containment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95784" y="1617365"/>
            <a:ext cx="10034436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Deploy automated pricing guardrails in POS and e-commerce platforms to block all below-cost transactions</a:t>
            </a:r>
            <a:endParaRPr lang="en-US" sz="1100" dirty="0"/>
          </a:p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Implement real-time cost-price validation at point of sale</a:t>
            </a:r>
            <a:endParaRPr lang="en-US" sz="1100" dirty="0"/>
          </a:p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Freeze all promotional discounts above 15% until pricing audit is complete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495784" y="2374404"/>
            <a:ext cx="10034436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Expected impact: Prevent new negative-margin sales immediately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723455"/>
            <a:ext cx="723584" cy="178633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95784" y="2868116"/>
            <a:ext cx="1003443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MEDIUM-TERM (Months 2–3): Structural Remediation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495784" y="3160613"/>
            <a:ext cx="10034436" cy="933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Complete full audit of cost_price vs. list_price mappings across all 8,378 affected transactions</a:t>
            </a:r>
            <a:endParaRPr lang="en-US" sz="1100" dirty="0"/>
          </a:p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Identify root causes: supplier cost increases, data entry errors, or catalog misalignment</a:t>
            </a:r>
            <a:endParaRPr lang="en-US" sz="1100" dirty="0"/>
          </a:p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Renegotiate supplier contracts for high-cost SKUs driving structural losses</a:t>
            </a:r>
            <a:endParaRPr lang="en-US" sz="1100" dirty="0"/>
          </a:p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Recalculate correct list prices to restore 55%+ margin targets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495784" y="4160738"/>
            <a:ext cx="10034436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Expected impact: Recover $150K–$200K in margin correction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4509790"/>
            <a:ext cx="723584" cy="178633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95784" y="4654451"/>
            <a:ext cx="1003443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LONG-TERM (Months 4–6): Systemic Prevention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1495784" y="4946948"/>
            <a:ext cx="10034436" cy="933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Implement automated supplier catalog feed validation to catch cost-price inversions</a:t>
            </a:r>
            <a:endParaRPr lang="en-US" sz="1100" dirty="0"/>
          </a:p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Establish quarterly pricing audits and margin monitoring dashboards</a:t>
            </a:r>
            <a:endParaRPr lang="en-US" sz="1100" dirty="0"/>
          </a:p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Create category-level discount caps tied to baseline margin thresholds</a:t>
            </a:r>
            <a:endParaRPr lang="en-US" sz="1100" dirty="0"/>
          </a:p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Train merchandising and procurement teams on cost-price governance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495784" y="5947073"/>
            <a:ext cx="10034436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Expected impact: Eliminate recurring negative-margin transactions and stabilize profitability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2026-09-05T13:28:45Z</dcterms:created>
  <dcterms:modified xsi:type="dcterms:W3CDTF">2026-09-05T13:28:45Z</dcterms:modified>
</cp:coreProperties>
</file>